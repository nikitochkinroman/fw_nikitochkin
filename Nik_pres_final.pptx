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7" r:id="rId8"/>
    <p:sldId id="268" r:id="rId9"/>
    <p:sldId id="269" r:id="rId10"/>
    <p:sldId id="270" r:id="rId11"/>
    <p:sldId id="265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91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E7D7F1-1E9B-4AAE-9ECA-B47C5065FBCC}" type="datetimeFigureOut">
              <a:rPr lang="ru-RU" smtClean="0"/>
              <a:t>14.10.2026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3384B4-9B76-4D7D-BA88-2E09A02B41F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54311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3384B4-9B76-4D7D-BA88-2E09A02B41F9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5294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5411DD-59D5-B68A-129E-A1CAC5DA39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0F90184E-99B3-7735-126E-BE6D2B49CF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4241FDE2-CFE8-DD13-AB3E-21A082DF93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A5E6CBE-516E-E891-37E3-F0ECB3086F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3384B4-9B76-4D7D-BA88-2E09A02B41F9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40904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FB3D72-45C3-9D82-5DE3-46C7D54E1C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3C03360-372A-DFB2-BB77-9AB9540F8A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DCD71C0-2237-9DF6-125E-AB5158A77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58243-E675-43CC-B6D9-E3F1096A847A}" type="datetimeFigureOut">
              <a:rPr lang="ru-RU" smtClean="0"/>
              <a:t>14.10.2026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F6D05B8-E463-B549-39BB-60134448E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799A6AC-AA71-6A52-9188-B6B25B5F7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11765-322D-48FF-84FB-D34D17CFFB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44714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0A94AB-4BD8-153B-F6E8-374C48E75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12EA1B1-4619-3092-2151-15FD902BEA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F3410C2-6EEE-8536-C0AB-EF458FE0D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58243-E675-43CC-B6D9-E3F1096A847A}" type="datetimeFigureOut">
              <a:rPr lang="ru-RU" smtClean="0"/>
              <a:t>14.10.2026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1999EE9-B804-D588-6C8D-F46A3C53A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8F8A285-C15E-8518-C206-A0BC162D3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11765-322D-48FF-84FB-D34D17CFFB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83939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AE2EC5-ABAB-4CFC-D9CA-5473F9E6F4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4FF7364-5B84-6EFD-AAB0-2702E134B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83152CE-483D-0300-3DB5-F58AF0C07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58243-E675-43CC-B6D9-E3F1096A847A}" type="datetimeFigureOut">
              <a:rPr lang="ru-RU" smtClean="0"/>
              <a:t>14.10.2026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F82EA62-FE3D-1387-0A14-F6A0F141D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3F1F3BC-C467-CCE2-4CBF-503DD0417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11765-322D-48FF-84FB-D34D17CFFB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03389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6D0B92-A43D-0015-CDAC-70BD0E02A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3B66FE1-5348-477A-7580-1FCB46A731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997A46F-634D-F46C-13D7-6449CF18CD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522F3FB-C920-1E26-C999-0AF48C820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58243-E675-43CC-B6D9-E3F1096A847A}" type="datetimeFigureOut">
              <a:rPr lang="ru-RU" smtClean="0"/>
              <a:t>14.10.2026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230C70A-4D28-B642-15F4-4B2712030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2509EFE-FBE6-D094-59A9-9C816DEEE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11765-322D-48FF-84FB-D34D17CFFB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23626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D7902A-3503-B6B9-F473-7CA1E59E8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E4E9BC9-FD7F-741A-A44E-BA34FE50EC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0DC5CA1-3582-F38D-378F-828C24DBB8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DAD84A5-1A29-25BB-5433-7CD1CB0D0A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20CBF70-97BA-CD58-747C-C9EA4B3849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6BB203EB-9231-6AF5-BE35-F7C8D05B9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58243-E675-43CC-B6D9-E3F1096A847A}" type="datetimeFigureOut">
              <a:rPr lang="ru-RU" smtClean="0"/>
              <a:t>14.10.2026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FFCD0037-E06E-F161-D32A-C3FDCDD8E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3A04A617-DA48-E3C9-D11A-0073F666B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11765-322D-48FF-84FB-D34D17CFFB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9612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9C0984-C832-3CF4-FF2A-948D49F44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2E7D9677-F937-772E-354C-64F32ABC6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58243-E675-43CC-B6D9-E3F1096A847A}" type="datetimeFigureOut">
              <a:rPr lang="ru-RU" smtClean="0"/>
              <a:t>14.10.2026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EEC1CC3-74A6-924D-D740-0F9E8C813F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9173009-8F97-4159-1700-E2331C025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11765-322D-48FF-84FB-D34D17CFFB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48769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6A78E481-C10E-026C-BD2A-10D15E1771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58243-E675-43CC-B6D9-E3F1096A847A}" type="datetimeFigureOut">
              <a:rPr lang="ru-RU" smtClean="0"/>
              <a:t>14.10.2026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ED92914E-26A3-CF17-E137-2A0DC2DBF1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4C71121-EDB7-202B-4D1A-C5DE50664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11765-322D-48FF-84FB-D34D17CFFB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87029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75E56C-CFDD-EE33-F262-A018EA5C81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7B9F8A2-7606-4103-8B25-AEB6C33B8D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1E1B28B-96B8-8D36-6163-BF5BFC4BA1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8E85E4F-D699-B97C-D88C-5761BB357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58243-E675-43CC-B6D9-E3F1096A847A}" type="datetimeFigureOut">
              <a:rPr lang="ru-RU" smtClean="0"/>
              <a:t>14.10.2026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369BEF6-DE0D-B1B7-8F54-819E05349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BBD5B3D-9873-CDB3-15D9-1446A0DBA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11765-322D-48FF-84FB-D34D17CFFB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88865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98DFD7-64C6-59AB-E192-635F570738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DE69E4AA-1A98-ED19-A054-31D9400E9C32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8D3877E-027A-0616-2CE2-92460249E9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8F582F9-D7F6-D06C-1416-E825A0E0D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58243-E675-43CC-B6D9-E3F1096A847A}" type="datetimeFigureOut">
              <a:rPr lang="ru-RU" smtClean="0"/>
              <a:t>14.10.2026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35A8C74-1EA2-96D0-A3A6-145073306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F0D6BAD-D9FC-62E7-AE9A-F2A84A140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11765-322D-48FF-84FB-D34D17CFFB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36963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DAFA09-3551-6455-187A-45BCE5F624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1092EF8-1E32-2DAD-1DB1-F22C905A45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262E1A8-1FBF-8B96-0CB4-D1FF01312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58243-E675-43CC-B6D9-E3F1096A847A}" type="datetimeFigureOut">
              <a:rPr lang="ru-RU" smtClean="0"/>
              <a:t>14.10.2026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33EBA0C-E98B-FE2C-E098-CE097283C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A345B5C-24E3-A3D8-9AF1-043DFB31D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11765-322D-48FF-84FB-D34D17CFFB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23239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9EA31C44-45AD-D7FA-6CFD-C3BF614BCE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337B3BA-AE8A-8A96-1266-9F1391724C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627A213-A553-8E1B-9053-700D05806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58243-E675-43CC-B6D9-E3F1096A847A}" type="datetimeFigureOut">
              <a:rPr lang="ru-RU" smtClean="0"/>
              <a:t>14.10.2026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FF6B90F-0EE2-773A-7151-AF884C0D7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558296C-A1F6-3E83-A10E-07ED414C9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11765-322D-48FF-84FB-D34D17CFFB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36705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23C6E4-32FF-548D-E8F7-DB7065EA6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1B65D3B-513F-2A1C-9F44-42D041CA1E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9CFE5DE-DFD3-F084-AD03-F3D9D1BCD5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858243-E675-43CC-B6D9-E3F1096A847A}" type="datetimeFigureOut">
              <a:rPr lang="ru-RU" smtClean="0"/>
              <a:t>14.10.2026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8EA3718-85FC-11CF-26E0-7F256C2F60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03FBEA3-3D44-1816-4327-F2DDE18C4A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C11765-322D-48FF-84FB-D34D17CFFB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0181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CD76C5-52A4-25CA-DD55-3E863D1B5A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07046"/>
            <a:ext cx="9144000" cy="2387600"/>
          </a:xfrm>
        </p:spPr>
        <p:txBody>
          <a:bodyPr>
            <a:normAutofit/>
          </a:bodyPr>
          <a:lstStyle/>
          <a:p>
            <a:br>
              <a:rPr lang="ru-RU" sz="3200" dirty="0"/>
            </a:br>
            <a:r>
              <a:rPr lang="ru-RU" sz="3200" dirty="0"/>
              <a:t>Тема</a:t>
            </a:r>
            <a:r>
              <a:rPr lang="en-US" sz="3200" dirty="0"/>
              <a:t>:</a:t>
            </a:r>
            <a:br>
              <a:rPr lang="ru-RU" sz="3200" dirty="0"/>
            </a:br>
            <a:r>
              <a:rPr lang="ru-RU" sz="3200" dirty="0"/>
              <a:t>Применение методов машинного обучения к анализу зарплатных предложений на рынке</a:t>
            </a:r>
            <a:r>
              <a:rPr lang="en-US" sz="3200" dirty="0"/>
              <a:t> IT </a:t>
            </a:r>
            <a:r>
              <a:rPr lang="ru-RU" sz="3200" dirty="0"/>
              <a:t>вакансий	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3EA4B25-03F8-88F4-633F-65258754ED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33558"/>
            <a:ext cx="9144000" cy="1655762"/>
          </a:xfrm>
        </p:spPr>
        <p:txBody>
          <a:bodyPr/>
          <a:lstStyle/>
          <a:p>
            <a:r>
              <a:rPr lang="ru-RU" dirty="0"/>
              <a:t>Выполнил</a:t>
            </a:r>
            <a:r>
              <a:rPr lang="en-US" dirty="0"/>
              <a:t>: </a:t>
            </a:r>
            <a:r>
              <a:rPr lang="ru-RU" dirty="0" err="1"/>
              <a:t>Никиточкин</a:t>
            </a:r>
            <a:r>
              <a:rPr lang="ru-RU" dirty="0"/>
              <a:t> Роман Александрович</a:t>
            </a:r>
          </a:p>
        </p:txBody>
      </p:sp>
    </p:spTree>
    <p:extLst>
      <p:ext uri="{BB962C8B-B14F-4D97-AF65-F5344CB8AC3E}">
        <p14:creationId xmlns:p14="http://schemas.microsoft.com/office/powerpoint/2010/main" val="31660971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7DB33E-D8E9-AA3C-7E6C-E10CF9484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/>
              <a:t>Цель работы</a:t>
            </a:r>
            <a:r>
              <a:rPr lang="en-US" sz="3200" dirty="0"/>
              <a:t>:</a:t>
            </a:r>
            <a:endParaRPr lang="ru-RU" sz="3200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5A5DBA3-0808-0B80-EA9F-3F7C7E1C90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при помощи знаний и навыков, полученных на курсе </a:t>
            </a:r>
            <a:r>
              <a:rPr lang="en-US" dirty="0"/>
              <a:t>“</a:t>
            </a:r>
            <a:r>
              <a:rPr lang="ru-RU" dirty="0"/>
              <a:t>Аналитик данных</a:t>
            </a:r>
            <a:r>
              <a:rPr lang="en-US" dirty="0"/>
              <a:t>” </a:t>
            </a:r>
            <a:r>
              <a:rPr lang="ru-RU" dirty="0"/>
              <a:t>определить, какие навыки оказывают наибольшее влияние на зарплаты на рынке </a:t>
            </a:r>
            <a:r>
              <a:rPr lang="en-US" dirty="0"/>
              <a:t>IT </a:t>
            </a:r>
            <a:r>
              <a:rPr lang="ru-RU" dirty="0"/>
              <a:t>вакансий в РФ</a:t>
            </a:r>
          </a:p>
        </p:txBody>
      </p:sp>
    </p:spTree>
    <p:extLst>
      <p:ext uri="{BB962C8B-B14F-4D97-AF65-F5344CB8AC3E}">
        <p14:creationId xmlns:p14="http://schemas.microsoft.com/office/powerpoint/2010/main" val="18609147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2BD0D4-05F2-4AC7-BCF5-B6A87F83D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/>
              <a:t>Практическая значимость работы: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BDF4DB7-530B-1CBE-296D-418490ED8A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1. определить для себя самые необходимые и ценные навыки при переходе в </a:t>
            </a:r>
            <a:r>
              <a:rPr lang="en-US" dirty="0"/>
              <a:t>IT </a:t>
            </a:r>
            <a:r>
              <a:rPr lang="ru-RU" dirty="0"/>
              <a:t>профессию;</a:t>
            </a:r>
            <a:br>
              <a:rPr lang="ru-RU" dirty="0"/>
            </a:br>
            <a:r>
              <a:rPr lang="ru-RU" dirty="0"/>
              <a:t>2. полученные данные могут быть использованы для создания/корректировки программ курсов обучения;</a:t>
            </a:r>
            <a:br>
              <a:rPr lang="ru-RU" dirty="0"/>
            </a:br>
            <a:r>
              <a:rPr lang="ru-RU" dirty="0"/>
              <a:t>3. понимание общих тенденций на рынке </a:t>
            </a:r>
            <a:r>
              <a:rPr lang="en-US" dirty="0"/>
              <a:t>IT </a:t>
            </a:r>
            <a:r>
              <a:rPr lang="ru-RU" dirty="0"/>
              <a:t>вакансий</a:t>
            </a:r>
          </a:p>
        </p:txBody>
      </p:sp>
    </p:spTree>
    <p:extLst>
      <p:ext uri="{BB962C8B-B14F-4D97-AF65-F5344CB8AC3E}">
        <p14:creationId xmlns:p14="http://schemas.microsoft.com/office/powerpoint/2010/main" val="24332430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E36702-3F38-F0A5-60E0-5CF8D52C86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0264" y="-569277"/>
            <a:ext cx="9144000" cy="2387600"/>
          </a:xfrm>
        </p:spPr>
        <p:txBody>
          <a:bodyPr>
            <a:normAutofit/>
          </a:bodyPr>
          <a:lstStyle/>
          <a:p>
            <a:r>
              <a:rPr lang="ru-RU" sz="3200" dirty="0"/>
              <a:t>Этапы работы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5D7C0B9-3D46-6E97-A502-2F3AEA6D9E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176272"/>
            <a:ext cx="9144000" cy="3081528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</a:pPr>
            <a:r>
              <a:rPr lang="ru-RU" sz="2200" dirty="0"/>
              <a:t>1.           написание парсера</a:t>
            </a:r>
            <a:br>
              <a:rPr lang="ru-RU" sz="2200" dirty="0"/>
            </a:br>
            <a:r>
              <a:rPr lang="ru-RU" sz="2200" dirty="0"/>
              <a:t>2.           получение датасета при помощи парсера из п.1</a:t>
            </a:r>
            <a:br>
              <a:rPr lang="ru-RU" sz="2200" dirty="0"/>
            </a:br>
            <a:r>
              <a:rPr lang="ru-RU" sz="2200" dirty="0"/>
              <a:t>3.           предобработка данных</a:t>
            </a:r>
            <a:br>
              <a:rPr lang="ru-RU" sz="2200" dirty="0"/>
            </a:br>
            <a:r>
              <a:rPr lang="ru-RU" sz="2200" dirty="0"/>
              <a:t>4.           аналитика</a:t>
            </a:r>
            <a:br>
              <a:rPr lang="ru-RU" sz="2200" dirty="0"/>
            </a:br>
            <a:r>
              <a:rPr lang="ru-RU" sz="2200" dirty="0"/>
              <a:t>5.           подготовка к кластеризации</a:t>
            </a:r>
            <a:br>
              <a:rPr lang="ru-RU" sz="2200" dirty="0"/>
            </a:br>
            <a:r>
              <a:rPr lang="ru-RU" sz="2200" dirty="0"/>
              <a:t>6.           кластеризация</a:t>
            </a:r>
          </a:p>
        </p:txBody>
      </p:sp>
    </p:spTree>
    <p:extLst>
      <p:ext uri="{BB962C8B-B14F-4D97-AF65-F5344CB8AC3E}">
        <p14:creationId xmlns:p14="http://schemas.microsoft.com/office/powerpoint/2010/main" val="26212448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535049-3A40-73CF-63AA-D2B80B1035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-787400"/>
            <a:ext cx="9144000" cy="2387600"/>
          </a:xfrm>
        </p:spPr>
        <p:txBody>
          <a:bodyPr>
            <a:normAutofit/>
          </a:bodyPr>
          <a:lstStyle/>
          <a:p>
            <a:r>
              <a:rPr lang="ru-RU" sz="3200" dirty="0"/>
              <a:t>Этапы 1 и 2</a:t>
            </a:r>
            <a:r>
              <a:rPr lang="en-US" sz="3200" dirty="0"/>
              <a:t>: </a:t>
            </a:r>
            <a:r>
              <a:rPr lang="ru-RU" sz="3200" dirty="0"/>
              <a:t>написание парсера и получение датасета для дальнейшей работы с ним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0DB7506-7E23-E4A0-F80B-2B579A69C4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06296" y="3099118"/>
            <a:ext cx="9144000" cy="165576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200" dirty="0"/>
              <a:t>Для сбора необходимой информации был написан парсер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200" dirty="0"/>
              <a:t>для сайта </a:t>
            </a:r>
            <a:r>
              <a:rPr lang="en-US" sz="2200" dirty="0"/>
              <a:t>hh.ru</a:t>
            </a:r>
            <a:r>
              <a:rPr lang="ru-RU" sz="2200" dirty="0"/>
              <a:t>,</a:t>
            </a:r>
            <a:r>
              <a:rPr lang="en-US" sz="2200" dirty="0"/>
              <a:t> </a:t>
            </a:r>
            <a:r>
              <a:rPr lang="ru-RU" sz="2200" dirty="0"/>
              <a:t>с помощью которого были собраны порядка </a:t>
            </a:r>
            <a:r>
              <a:rPr lang="ru-RU" sz="2200" dirty="0">
                <a:solidFill>
                  <a:schemeClr val="accent2">
                    <a:lumMod val="75000"/>
                  </a:schemeClr>
                </a:solidFill>
              </a:rPr>
              <a:t>15к </a:t>
            </a:r>
            <a:r>
              <a:rPr lang="en-US" sz="2200" dirty="0">
                <a:solidFill>
                  <a:schemeClr val="accent2">
                    <a:lumMod val="75000"/>
                  </a:schemeClr>
                </a:solidFill>
              </a:rPr>
              <a:t>IT </a:t>
            </a:r>
            <a:r>
              <a:rPr lang="ru-RU" sz="2200" dirty="0">
                <a:solidFill>
                  <a:schemeClr val="accent2">
                    <a:lumMod val="75000"/>
                  </a:schemeClr>
                </a:solidFill>
              </a:rPr>
              <a:t>вакансий</a:t>
            </a:r>
            <a:r>
              <a:rPr lang="ru-RU" sz="2200" dirty="0"/>
              <a:t>, из которых был сформирован </a:t>
            </a:r>
            <a:r>
              <a:rPr lang="ru-RU" sz="2200" dirty="0">
                <a:solidFill>
                  <a:schemeClr val="accent2">
                    <a:lumMod val="75000"/>
                  </a:schemeClr>
                </a:solidFill>
              </a:rPr>
              <a:t>датасет</a:t>
            </a:r>
            <a:r>
              <a:rPr lang="ru-RU" sz="2200" dirty="0"/>
              <a:t> для дальнейшей работы с ним</a:t>
            </a:r>
          </a:p>
        </p:txBody>
      </p:sp>
    </p:spTree>
    <p:extLst>
      <p:ext uri="{BB962C8B-B14F-4D97-AF65-F5344CB8AC3E}">
        <p14:creationId xmlns:p14="http://schemas.microsoft.com/office/powerpoint/2010/main" val="15655257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0B66680-443C-9F8F-6712-E33ABA3F07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609344"/>
            <a:ext cx="9320784" cy="4462272"/>
          </a:xfrm>
        </p:spPr>
        <p:txBody>
          <a:bodyPr>
            <a:noAutofit/>
          </a:bodyPr>
          <a:lstStyle/>
          <a:p>
            <a:endParaRPr lang="ru-RU" dirty="0"/>
          </a:p>
          <a:p>
            <a:r>
              <a:rPr lang="ru-RU" sz="2200" dirty="0">
                <a:solidFill>
                  <a:schemeClr val="bg2">
                    <a:lumMod val="50000"/>
                  </a:schemeClr>
                </a:solidFill>
              </a:rPr>
              <a:t>Была проведена предобработка информации по полученному датасету с целью дальнейшей возможности следующих этапов</a:t>
            </a:r>
            <a:r>
              <a:rPr lang="en-US" sz="2200" dirty="0">
                <a:solidFill>
                  <a:schemeClr val="bg2">
                    <a:lumMod val="50000"/>
                  </a:schemeClr>
                </a:solidFill>
              </a:rPr>
              <a:t>: </a:t>
            </a:r>
            <a:r>
              <a:rPr lang="ru-RU" sz="2200" dirty="0">
                <a:solidFill>
                  <a:schemeClr val="bg2">
                    <a:lumMod val="50000"/>
                  </a:schemeClr>
                </a:solidFill>
              </a:rPr>
              <a:t>анализа и кластеризации</a:t>
            </a:r>
          </a:p>
          <a:p>
            <a:br>
              <a:rPr lang="ru-RU" sz="2200" dirty="0"/>
            </a:br>
            <a:r>
              <a:rPr lang="ru-RU" sz="2200" dirty="0"/>
              <a:t>Что было сделано</a:t>
            </a:r>
            <a:r>
              <a:rPr lang="en-US" sz="2200" dirty="0"/>
              <a:t>:</a:t>
            </a:r>
            <a:endParaRPr lang="ru-RU" sz="2200" dirty="0"/>
          </a:p>
          <a:p>
            <a:pPr algn="l"/>
            <a:r>
              <a:rPr lang="ru-RU" sz="2200" dirty="0"/>
              <a:t>1.   были стандартизированы скиллы</a:t>
            </a:r>
            <a:br>
              <a:rPr lang="ru-RU" sz="2200" dirty="0"/>
            </a:br>
            <a:r>
              <a:rPr lang="ru-RU" sz="2200" dirty="0"/>
              <a:t>2.   были стандартизированы зарплаты (путём  подтягивания актуальный курсов валют с сайта ЦБ РФ, т.к. в вакансиях, помимо рублей, были доллары, евро и белорусский рубли)</a:t>
            </a:r>
            <a:br>
              <a:rPr lang="ru-RU" sz="2200" dirty="0"/>
            </a:br>
            <a:r>
              <a:rPr lang="ru-RU" sz="2200" dirty="0"/>
              <a:t>3.   были выкинуты пустоты</a:t>
            </a:r>
            <a:br>
              <a:rPr lang="ru-RU" sz="2200" dirty="0"/>
            </a:br>
            <a:r>
              <a:rPr lang="ru-RU" sz="2200" dirty="0"/>
              <a:t>4.   были выкинуты дубликаты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C13260DA-8224-3D8C-23BD-5F320F40EB5B}"/>
              </a:ext>
            </a:extLst>
          </p:cNvPr>
          <p:cNvSpPr txBox="1">
            <a:spLocks/>
          </p:cNvSpPr>
          <p:nvPr/>
        </p:nvSpPr>
        <p:spPr>
          <a:xfrm>
            <a:off x="1524000" y="-787400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200" dirty="0"/>
              <a:t>Этап 3</a:t>
            </a:r>
            <a:r>
              <a:rPr lang="en-US" sz="3200" dirty="0"/>
              <a:t>: </a:t>
            </a:r>
            <a:r>
              <a:rPr lang="ru-RU" sz="3200" dirty="0"/>
              <a:t>Предобработка информации</a:t>
            </a:r>
          </a:p>
        </p:txBody>
      </p:sp>
    </p:spTree>
    <p:extLst>
      <p:ext uri="{BB962C8B-B14F-4D97-AF65-F5344CB8AC3E}">
        <p14:creationId xmlns:p14="http://schemas.microsoft.com/office/powerpoint/2010/main" val="17536332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94CF66-45A8-93D8-D637-B418D38CA9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B519E35-DD1F-8018-F8C6-3054747840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088136"/>
            <a:ext cx="9320784" cy="4462272"/>
          </a:xfrm>
        </p:spPr>
        <p:txBody>
          <a:bodyPr>
            <a:noAutofit/>
          </a:bodyPr>
          <a:lstStyle/>
          <a:p>
            <a:pPr algn="l"/>
            <a:r>
              <a:rPr lang="ru-RU" sz="2200" dirty="0">
                <a:solidFill>
                  <a:schemeClr val="bg2">
                    <a:lumMod val="50000"/>
                  </a:schemeClr>
                </a:solidFill>
              </a:rPr>
              <a:t>Вся данная информация для наглядности была визуализирована в </a:t>
            </a:r>
            <a:r>
              <a:rPr lang="ru-RU" sz="2200" dirty="0" err="1">
                <a:solidFill>
                  <a:schemeClr val="bg2">
                    <a:lumMod val="50000"/>
                  </a:schemeClr>
                </a:solidFill>
              </a:rPr>
              <a:t>Jupiter</a:t>
            </a:r>
            <a:r>
              <a:rPr lang="ru-RU" sz="22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ru-RU" sz="2200" dirty="0" err="1">
                <a:solidFill>
                  <a:schemeClr val="bg2">
                    <a:lumMod val="50000"/>
                  </a:schemeClr>
                </a:solidFill>
              </a:rPr>
              <a:t>Notebook</a:t>
            </a:r>
            <a:endParaRPr lang="ru-RU" sz="2200" dirty="0">
              <a:solidFill>
                <a:schemeClr val="bg2">
                  <a:lumMod val="50000"/>
                </a:schemeClr>
              </a:solidFill>
            </a:endParaRPr>
          </a:p>
          <a:p>
            <a:pPr algn="l"/>
            <a:br>
              <a:rPr lang="ru-RU" sz="2200" dirty="0"/>
            </a:br>
            <a:r>
              <a:rPr lang="ru-RU" sz="2200" dirty="0"/>
              <a:t>1. посчитана средняя зарплата</a:t>
            </a:r>
            <a:br>
              <a:rPr lang="ru-RU" sz="2200" dirty="0"/>
            </a:br>
            <a:r>
              <a:rPr lang="ru-RU" sz="2200" dirty="0"/>
              <a:t>2. произведена разбивка зарплаты по профессиям </a:t>
            </a:r>
            <a:r>
              <a:rPr lang="ru-RU" sz="2200" dirty="0">
                <a:solidFill>
                  <a:schemeClr val="bg2">
                    <a:lumMod val="50000"/>
                  </a:schemeClr>
                </a:solidFill>
              </a:rPr>
              <a:t>(руководящие должности получают самую высокую зарплату)</a:t>
            </a:r>
            <a:br>
              <a:rPr lang="ru-RU" sz="2200" dirty="0"/>
            </a:br>
            <a:r>
              <a:rPr lang="ru-RU" sz="2200" dirty="0"/>
              <a:t>3. установлено, влияет ли формат работы на зарплату </a:t>
            </a:r>
            <a:r>
              <a:rPr lang="ru-RU" sz="2200" dirty="0">
                <a:solidFill>
                  <a:schemeClr val="bg2">
                    <a:lumMod val="50000"/>
                  </a:schemeClr>
                </a:solidFill>
              </a:rPr>
              <a:t>(зависимости нет, но, что интересно в этом пункте: больше половины вакансий – офисные, т.е. удалёнка сейчас не так популярна, как можно было бы предположить)</a:t>
            </a:r>
            <a:br>
              <a:rPr lang="ru-RU" sz="2200" dirty="0">
                <a:solidFill>
                  <a:schemeClr val="bg2">
                    <a:lumMod val="50000"/>
                  </a:schemeClr>
                </a:solidFill>
              </a:rPr>
            </a:br>
            <a:r>
              <a:rPr lang="ru-RU" sz="2200" dirty="0"/>
              <a:t>4. было просмотрено распределение зарплат в разрезе того есть или нет аккредитация у компании </a:t>
            </a:r>
            <a:r>
              <a:rPr lang="ru-RU" sz="2200" dirty="0">
                <a:solidFill>
                  <a:schemeClr val="bg2">
                    <a:lumMod val="50000"/>
                  </a:schemeClr>
                </a:solidFill>
              </a:rPr>
              <a:t>(в компаниях, у которых аккредитация есть, уровень зарплат выше. Однако общее количество таких компаний существенно меньше, нежели компаний, у которых аккредитации нет)</a:t>
            </a:r>
            <a:br>
              <a:rPr lang="ru-RU" sz="2200" dirty="0">
                <a:solidFill>
                  <a:schemeClr val="bg2">
                    <a:lumMod val="50000"/>
                  </a:schemeClr>
                </a:solidFill>
              </a:rPr>
            </a:br>
            <a:r>
              <a:rPr lang="ru-RU" sz="2200" dirty="0">
                <a:solidFill>
                  <a:schemeClr val="bg2">
                    <a:lumMod val="25000"/>
                  </a:schemeClr>
                </a:solidFill>
              </a:rPr>
              <a:t>5. был составлен топ самых часто встречаемых навыков. </a:t>
            </a:r>
            <a:r>
              <a:rPr lang="ru-RU" sz="2200" dirty="0">
                <a:solidFill>
                  <a:schemeClr val="bg2">
                    <a:lumMod val="50000"/>
                  </a:schemeClr>
                </a:solidFill>
              </a:rPr>
              <a:t>Это деловая коммуникация (т.к. требуется большое количество взаимодействий между другими отделами) аналитическое мышление и SQL</a:t>
            </a:r>
            <a:br>
              <a:rPr lang="ru-RU" sz="2200" dirty="0">
                <a:solidFill>
                  <a:schemeClr val="bg2">
                    <a:lumMod val="50000"/>
                  </a:schemeClr>
                </a:solidFill>
              </a:rPr>
            </a:br>
            <a:endParaRPr lang="ru-RU" sz="22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D77F81B-7D1A-5B8A-D66F-84E95F90BA8B}"/>
              </a:ext>
            </a:extLst>
          </p:cNvPr>
          <p:cNvSpPr txBox="1">
            <a:spLocks/>
          </p:cNvSpPr>
          <p:nvPr/>
        </p:nvSpPr>
        <p:spPr>
          <a:xfrm>
            <a:off x="1524000" y="-1473200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200" dirty="0"/>
              <a:t>Этап 4</a:t>
            </a:r>
            <a:r>
              <a:rPr lang="en-US" sz="3200" dirty="0"/>
              <a:t>:</a:t>
            </a:r>
            <a:r>
              <a:rPr lang="ru-RU" sz="3200" dirty="0"/>
              <a:t> Аналитика</a:t>
            </a:r>
          </a:p>
        </p:txBody>
      </p:sp>
    </p:spTree>
    <p:extLst>
      <p:ext uri="{BB962C8B-B14F-4D97-AF65-F5344CB8AC3E}">
        <p14:creationId xmlns:p14="http://schemas.microsoft.com/office/powerpoint/2010/main" val="13069253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9525BF-C047-F84E-83E7-7C72BD0E9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8F24D8-105C-0E8A-149F-7AE7BDC87D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-787400"/>
            <a:ext cx="9144000" cy="2387600"/>
          </a:xfrm>
        </p:spPr>
        <p:txBody>
          <a:bodyPr>
            <a:normAutofit/>
          </a:bodyPr>
          <a:lstStyle/>
          <a:p>
            <a:r>
              <a:rPr lang="ru-RU" sz="3200" dirty="0"/>
              <a:t>Этап 5: Подготовка к кластеризации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944B033-9BBC-4509-9313-929D8EB0F4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06296" y="3099118"/>
            <a:ext cx="9144000" cy="165576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200" dirty="0"/>
              <a:t>1. приведение выбранных признаков к числовым значениям</a:t>
            </a:r>
            <a:br>
              <a:rPr lang="ru-RU" sz="2200" dirty="0"/>
            </a:br>
            <a:r>
              <a:rPr lang="ru-RU" sz="2200" dirty="0"/>
              <a:t>2. </a:t>
            </a:r>
            <a:r>
              <a:rPr lang="ru-RU" sz="2200" dirty="0" err="1"/>
              <a:t>скалирование</a:t>
            </a:r>
            <a:r>
              <a:rPr lang="ru-RU" sz="2200" dirty="0"/>
              <a:t>, т.е. выбор наиболее подходящего количества кластеров. В данном случае – </a:t>
            </a:r>
            <a:r>
              <a:rPr lang="ru-RU" sz="2200" dirty="0">
                <a:solidFill>
                  <a:schemeClr val="accent2">
                    <a:lumMod val="75000"/>
                  </a:schemeClr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4322574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FD717F-EA7C-26E8-9750-29A55F855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963B1B-875B-635E-2DF5-17C4FD5555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-1345184"/>
            <a:ext cx="9144000" cy="2387600"/>
          </a:xfrm>
        </p:spPr>
        <p:txBody>
          <a:bodyPr>
            <a:normAutofit/>
          </a:bodyPr>
          <a:lstStyle/>
          <a:p>
            <a:r>
              <a:rPr lang="ru-RU" sz="3200" dirty="0"/>
              <a:t>Этап 6: Кластеризация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A7F7507-E826-0A0C-CB76-8F11BA791C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97152" y="1353312"/>
            <a:ext cx="9144000" cy="4151376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000" dirty="0">
                <a:solidFill>
                  <a:schemeClr val="bg2">
                    <a:lumMod val="50000"/>
                  </a:schemeClr>
                </a:solidFill>
              </a:rPr>
              <a:t>Как завершающий этап работы посмотрел, какие зависимости увидела модель 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ru-RU" sz="2000" dirty="0"/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ru-RU" sz="2000" dirty="0"/>
              <a:t>Например, выделяется кластер (4), в котором платят больше всего. При этом, в нём требуется наибольшее число навыков – </a:t>
            </a:r>
            <a:r>
              <a:rPr lang="ru-RU" sz="2000" dirty="0">
                <a:solidFill>
                  <a:schemeClr val="accent2">
                    <a:lumMod val="75000"/>
                  </a:schemeClr>
                </a:solidFill>
              </a:rPr>
              <a:t>11</a:t>
            </a:r>
            <a:r>
              <a:rPr lang="ru-RU" sz="2000" dirty="0"/>
              <a:t>. Можно сделать вывод, что в этот кластер попали программисты, так как среди навыков именно в нём требуется владение языками программирования.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br>
              <a:rPr lang="ru-RU" sz="2000" dirty="0"/>
            </a:br>
            <a:r>
              <a:rPr lang="ru-RU" sz="2000" dirty="0"/>
              <a:t>Остальные вакансии получились относительно вразнобой. Связываю это с тем, что для разных профессий, таких как, дизайнеры и техподдержка требуются одни и те же навыки (например, коммуникация), поэтому модель определила их в один кластер.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br>
              <a:rPr lang="ru-RU" sz="2000" dirty="0"/>
            </a:br>
            <a:r>
              <a:rPr lang="ru-RU" sz="2000" dirty="0"/>
              <a:t>В разделе кластеризации были просмотрены зарплаты, навыки, а так же, какие профессии модель раскидала по кластерам. </a:t>
            </a:r>
            <a:r>
              <a:rPr lang="ru-RU" sz="2000"/>
              <a:t>Где-то распределение </a:t>
            </a:r>
            <a:r>
              <a:rPr lang="ru-RU" sz="2000" dirty="0"/>
              <a:t>получилось на 100% очевидным, где-то </a:t>
            </a:r>
            <a:r>
              <a:rPr lang="ru-RU" sz="2200" dirty="0"/>
              <a:t>дискуссионным.</a:t>
            </a:r>
          </a:p>
        </p:txBody>
      </p:sp>
    </p:spTree>
    <p:extLst>
      <p:ext uri="{BB962C8B-B14F-4D97-AF65-F5344CB8AC3E}">
        <p14:creationId xmlns:p14="http://schemas.microsoft.com/office/powerpoint/2010/main" val="8238986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7704B6-A519-F1D4-0FFC-EB33C7350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FCF802-78B3-F0C9-B974-C9A9D63FF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/>
              <a:t>Как можно было бы улучшить работу: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A5668DA-291F-762B-BD66-3195C22A75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dirty="0"/>
              <a:t>Абсолютно все можно улучшать до бесконечности(∞)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dirty="0"/>
              <a:t>Эта работа не исключение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dirty="0"/>
              <a:t>Следующим шагом можно сделать прогноз</a:t>
            </a:r>
          </a:p>
        </p:txBody>
      </p:sp>
    </p:spTree>
    <p:extLst>
      <p:ext uri="{BB962C8B-B14F-4D97-AF65-F5344CB8AC3E}">
        <p14:creationId xmlns:p14="http://schemas.microsoft.com/office/powerpoint/2010/main" val="17732800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957E3D-3AE7-0CF5-872D-FFF669417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0239" y="2766218"/>
            <a:ext cx="10515600" cy="1325563"/>
          </a:xfrm>
        </p:spPr>
        <p:txBody>
          <a:bodyPr/>
          <a:lstStyle/>
          <a:p>
            <a:r>
              <a:rPr lang="ru-RU" dirty="0"/>
              <a:t>спасибо за внимание </a:t>
            </a:r>
            <a:br>
              <a:rPr lang="ru-RU" dirty="0"/>
            </a:br>
            <a:r>
              <a:rPr lang="ru-RU" dirty="0"/>
              <a:t>и хорошего дня!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29422C6-BAFB-295F-1C87-4BF1C9AD6F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4703" b="92808" l="408" r="95374">
                        <a14:foregroundMark x1="8163" y1="61272" x2="34014" y2="77870"/>
                        <a14:foregroundMark x1="34014" y1="77870" x2="53197" y2="83679"/>
                        <a14:foregroundMark x1="53197" y1="83679" x2="60000" y2="81743"/>
                        <a14:foregroundMark x1="83537" y1="84786" x2="79864" y2="86030"/>
                        <a14:foregroundMark x1="90884" y1="87828" x2="82449" y2="91978"/>
                        <a14:foregroundMark x1="72517" y1="50069" x2="75102" y2="62656"/>
                        <a14:foregroundMark x1="75102" y1="62656" x2="60816" y2="69018"/>
                        <a14:foregroundMark x1="60816" y1="69018" x2="45306" y2="63624"/>
                        <a14:foregroundMark x1="67483" y1="82573" x2="57007" y2="87137"/>
                        <a14:foregroundMark x1="78503" y1="83126" x2="71293" y2="90041"/>
                        <a14:foregroundMark x1="71293" y1="90041" x2="71293" y2="90041"/>
                        <a14:foregroundMark x1="85034" y1="36929" x2="88435" y2="48686"/>
                        <a14:foregroundMark x1="88435" y1="48686" x2="88163" y2="57953"/>
                        <a14:foregroundMark x1="92653" y1="10373" x2="89796" y2="20332"/>
                        <a14:foregroundMark x1="89796" y1="20332" x2="89796" y2="20470"/>
                        <a14:foregroundMark x1="40272" y1="4703" x2="58367" y2="16321"/>
                        <a14:foregroundMark x1="5850" y1="59751" x2="29252" y2="85201"/>
                        <a14:foregroundMark x1="39184" y1="92254" x2="43401" y2="92808"/>
                        <a14:foregroundMark x1="44898" y1="40941" x2="58776" y2="59751"/>
                        <a14:foregroundMark x1="41497" y1="69018" x2="48299" y2="83541"/>
                        <a14:foregroundMark x1="2351" y1="58071" x2="2346" y2="58449"/>
                        <a14:foregroundMark x1="2449" y1="50899" x2="2373" y2="56469"/>
                        <a14:foregroundMark x1="544" y1="55048" x2="1034" y2="56987"/>
                        <a14:foregroundMark x1="38503" y1="11480" x2="38503" y2="11480"/>
                        <a14:foregroundMark x1="91973" y1="34578" x2="91973" y2="34578"/>
                        <a14:foregroundMark x1="91973" y1="34578" x2="91429" y2="33748"/>
                        <a14:foregroundMark x1="94830" y1="8714" x2="95374" y2="9959"/>
                        <a14:backgroundMark x1="1361" y1="59474" x2="2721" y2="64177"/>
                        <a14:backgroundMark x1="2857" y1="64730" x2="2857" y2="63900"/>
                        <a14:backgroundMark x1="680" y1="57123" x2="1224" y2="58506"/>
                        <a14:backgroundMark x1="1224" y1="58506" x2="1361" y2="6127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798039" y="1979834"/>
            <a:ext cx="5131833" cy="5048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64603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626</Words>
  <Application>Microsoft Office PowerPoint</Application>
  <PresentationFormat>Широкоэкранный</PresentationFormat>
  <Paragraphs>34</Paragraphs>
  <Slides>11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Тема Office</vt:lpstr>
      <vt:lpstr> Тема: Применение методов машинного обучения к анализу зарплатных предложений на рынке IT вакансий </vt:lpstr>
      <vt:lpstr>Цель работы:</vt:lpstr>
      <vt:lpstr>Практическая значимость работы:</vt:lpstr>
      <vt:lpstr>Этапы работы</vt:lpstr>
      <vt:lpstr>Этапы 1 и 2: написание парсера и получение датасета для дальнейшей работы с ним</vt:lpstr>
      <vt:lpstr>Презентация PowerPoint</vt:lpstr>
      <vt:lpstr>Презентация PowerPoint</vt:lpstr>
      <vt:lpstr>Этап 5: Подготовка к кластеризации</vt:lpstr>
      <vt:lpstr>Этап 6: Кластеризация</vt:lpstr>
      <vt:lpstr>Как можно было бы улучшить работу:</vt:lpstr>
      <vt:lpstr>спасибо за внимание  и хорошего дня!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Алина Пронина</dc:creator>
  <cp:lastModifiedBy>Алина Пронина</cp:lastModifiedBy>
  <cp:revision>5</cp:revision>
  <dcterms:created xsi:type="dcterms:W3CDTF">2026-10-13T13:21:19Z</dcterms:created>
  <dcterms:modified xsi:type="dcterms:W3CDTF">2026-10-14T12:56:05Z</dcterms:modified>
</cp:coreProperties>
</file>